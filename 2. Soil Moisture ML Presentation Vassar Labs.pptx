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556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1311381"/>
            <a:ext cx="7924849" cy="1097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 Moisture Prediction Using Machine Learning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90235" y="2579315"/>
            <a:ext cx="6563528" cy="266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100"/>
              </a:lnSpc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Regression Approach Using Sentinel-1 SAR and SMAP Data </a:t>
            </a:r>
            <a:r>
              <a:rPr lang="en-IN" sz="1600" dirty="0">
                <a:solidFill>
                  <a:schemeClr val="bg2">
                    <a:lumMod val="90000"/>
                  </a:schemeClr>
                </a:solidFill>
              </a:rPr>
              <a:t>Vassar Labs IT Solutions – Data Science Evaluation</a:t>
            </a:r>
            <a:endParaRPr lang="en-US" sz="1500" dirty="0">
              <a:solidFill>
                <a:schemeClr val="bg2">
                  <a:lumMod val="90000"/>
                </a:schemeClr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solidFill>
                <a:srgbClr val="CBD5E1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ctr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873456" y="3845449"/>
            <a:ext cx="8811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Sachin Dimri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570482" y="4042937"/>
            <a:ext cx="1542462" cy="1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Project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47854" y="4229592"/>
            <a:ext cx="1987719" cy="81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12, 2026</a:t>
            </a:r>
          </a:p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Indian Institute of Technology Bombay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5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Outline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660"/>
            <a:ext cx="7620124" cy="1576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Problem Statement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 &amp; EDA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Development &amp; Evaluation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4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Background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660"/>
            <a:ext cx="7620124" cy="1576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 moisture is critical for agriculture and climate monitoring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ground sensors are expensive and limited in coverage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remote sensing offers cost-effective large-scale monitoring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can translate radar signals into moisture estimates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4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575" y="1249660"/>
            <a:ext cx="8083346" cy="239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can machine learning predict soil moisture from satellite radar backscatter data?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301" y="1718096"/>
            <a:ext cx="7620124" cy="1153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Sentinel-1 provides radar backscatter (VV, VH polarizations)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SMAP provides direct moisture measurements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Complex non-linear relationships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4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659"/>
            <a:ext cx="7620124" cy="1576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end-to-end ML pipeline for soil moisture prediction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multiple regression algorithms systematically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using RMSE, MAE, and R² metrics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assumptions and interpret model limitations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4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659"/>
            <a:ext cx="7620124" cy="1576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Observations: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30,747 records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VV, VH (radar backscatter in dB), smapam (SMAP moisture)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soil_moisture (volumetric content 0-1)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missing values, 5 extreme outliers removed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1249659"/>
            <a:ext cx="7924849" cy="114275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75" y="2392412"/>
            <a:ext cx="7924849" cy="114275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75" y="609574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150" y="1478235"/>
            <a:ext cx="761705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Sentinel-1 SAR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150" y="1950516"/>
            <a:ext cx="7617053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C-band radar at 5.4 GHz, 10-20m resolution, all-weather operation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8150" y="2620987"/>
            <a:ext cx="761705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SMAP Satellite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150" y="3093267"/>
            <a:ext cx="7617053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L-band radiometer, 36 km resolution, direct moisture sensing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4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659"/>
            <a:ext cx="7620124" cy="1576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 Detection: 5 extreme values (&gt;1000) removed from target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Train-Test Split: 80-20 ratio (24,593 train / 6,149 test)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Scaling: Standardization (zero mean, unit variance)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Dataset: 30,742 observations ready for modeling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2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Analysis - Key Findings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659"/>
            <a:ext cx="7620124" cy="1153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 &amp; VH: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Approximately normal distributions (mean: -9.2, -16.4 dB)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smapam: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Right-skewed with 19% zero values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soil_moisture: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Right-skewed (mean: 0.174, std: 0.109)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2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Analysis - Critical Finding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659"/>
            <a:ext cx="7620124" cy="1153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VV-VH Correlation: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0.888 (severe multicollinearity)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Predictor-Target Correlations: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-0.065 to 0.041 (extremely weak)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Limited linear predictive signal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2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Inflation Factor (VIF)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659"/>
            <a:ext cx="7620124" cy="1576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 VIF: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40.5 (severe multicollinearity)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 VIF: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42.2 (severe multicollinearity)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smapam VIF: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2.2 (acceptable)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Taken: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Tested model with VH removed (no improvement)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2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Models - Part 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659"/>
            <a:ext cx="7620124" cy="1576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(baseline model)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Polynomial Regression (degree 2)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Regression (L2 regularization)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(ensemble of decision trees)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2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Models - Part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659"/>
            <a:ext cx="7620124" cy="1576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(sequential tree learning)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Vector Regression - Linear Kernel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Vector Regression - RBF Kernel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Neural Network (3 hidden layers)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2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Comparison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659"/>
            <a:ext cx="7620124" cy="1576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Neural Network (R² = 0.056)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Best: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SVR-RBF (R² = 0.053)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Random Forest (R² = 0.004)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Range: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0.106 - 0.109 (≈ target std dev)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2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- Baseline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659"/>
            <a:ext cx="7620124" cy="1576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Score: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0.010 (1% variance explained)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0.109 (equal to target std dev)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0.090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 barely improves over mean prediction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2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Assumptions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654"/>
            <a:ext cx="7620124" cy="1576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 Residuals randomly scattered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Slight violation (right skew)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Homoscedasticity: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✓ Variance reasonably constant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Multicollinearity: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✗ Severe (VIF &gt; 40)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2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SVR with RBF Kernel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654"/>
            <a:ext cx="7620124" cy="1576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R²: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0.053 (5.3% variance explained)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 R²: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0.013 (stable generalization)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0.106 (slight improvement)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Captures non-linear patterns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2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Neural Network - Highest R²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654"/>
            <a:ext cx="7620124" cy="1576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64-32-16 neurons (ReLU activation)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R²: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0.056 (highest among all models)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0.106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overfitting observed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2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- Key Findings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654"/>
            <a:ext cx="7620124" cy="1576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poor performance across all algorithms (R² &lt; 0.06)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contain minimal predictive signal for soil moisture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 models show marginal improvement over linear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≈ baseline (predicting mean) for all models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2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Prediction Failed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654"/>
            <a:ext cx="7620124" cy="1153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critical variables (rainfall, temperature, soil type)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Spatial-temporal misalignment between sensors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signals confounded by surface roughness and vegetation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2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654"/>
            <a:ext cx="7620124" cy="1576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ML pipeline successfully developed and evaluated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SVR-RBF and Neural Network achieved best performance (R² ≈ 0.05)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backscatter alone insufficient for accurate prediction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reporting of negative results has scientific value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75" y="609572"/>
            <a:ext cx="8083346" cy="41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301" y="1249654"/>
            <a:ext cx="7620124" cy="1576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meteorological data (rainfall, temperature)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soil property maps and vegetation indices (NDVI)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time-series models (LSTM) for temporal dynamics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Physics-informed ML incorporating domain knowledge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39" y="1659434"/>
            <a:ext cx="2495922" cy="548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545928" y="2436558"/>
            <a:ext cx="2052020" cy="266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31388" y="2931784"/>
            <a:ext cx="8811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Sachin Dimri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02914" y="3297408"/>
            <a:ext cx="2538048" cy="1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Project | February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799</Words>
  <Application>Microsoft Office PowerPoint</Application>
  <PresentationFormat>On-screen Show (16:9)</PresentationFormat>
  <Paragraphs>135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Sachin Dimri</cp:lastModifiedBy>
  <cp:revision>3</cp:revision>
  <dcterms:created xsi:type="dcterms:W3CDTF">2026-02-12T10:06:17Z</dcterms:created>
  <dcterms:modified xsi:type="dcterms:W3CDTF">2026-02-12T11:06:29Z</dcterms:modified>
</cp:coreProperties>
</file>